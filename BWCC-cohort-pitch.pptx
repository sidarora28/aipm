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685800" y="548640"/>
            <a:ext cx="7315200" cy="365760"/>
          </a:xfrm>
          <a:prstGeom prst="rect">
            <a:avLst/>
          </a:prstGeom>
          <a:noFill/>
        </p:spPr>
        <p:txBody>
          <a:bodyPr wrap="square" lIns="0" rIns="0" tIns="0" bIns="0">
            <a:spAutoFit/>
          </a:bodyPr>
          <a:lstStyle/>
          <a:p>
            <a:pPr algn="l">
              <a:lnSpc>
                <a:spcPct val="110000"/>
              </a:lnSpc>
            </a:pPr>
            <a:r>
              <a:rPr sz="1400" b="1">
                <a:solidFill>
                  <a:srgbClr val="8A8A8A"/>
                </a:solidFill>
                <a:latin typeface="Inter"/>
              </a:rPr>
              <a:t>COHORT 003</a:t>
            </a:r>
          </a:p>
        </p:txBody>
      </p:sp>
      <p:sp>
        <p:nvSpPr>
          <p:cNvPr id="3" name="TextBox 2"/>
          <p:cNvSpPr txBox="1"/>
          <p:nvPr/>
        </p:nvSpPr>
        <p:spPr>
          <a:xfrm>
            <a:off x="685800" y="2377440"/>
            <a:ext cx="10972800" cy="1463040"/>
          </a:xfrm>
          <a:prstGeom prst="rect">
            <a:avLst/>
          </a:prstGeom>
          <a:noFill/>
        </p:spPr>
        <p:txBody>
          <a:bodyPr wrap="square" lIns="0" rIns="0" tIns="0" bIns="0">
            <a:spAutoFit/>
          </a:bodyPr>
          <a:lstStyle/>
          <a:p>
            <a:pPr algn="l">
              <a:lnSpc>
                <a:spcPct val="110000"/>
              </a:lnSpc>
            </a:pPr>
            <a:r>
              <a:rPr sz="7200" b="1">
                <a:solidFill>
                  <a:srgbClr val="FAFAFA"/>
                </a:solidFill>
                <a:latin typeface="Inter"/>
              </a:rPr>
              <a:t>BUILD WITH CLAUDE CODE</a:t>
            </a:r>
          </a:p>
        </p:txBody>
      </p:sp>
      <p:sp>
        <p:nvSpPr>
          <p:cNvPr id="4" name="TextBox 3"/>
          <p:cNvSpPr txBox="1"/>
          <p:nvPr/>
        </p:nvSpPr>
        <p:spPr>
          <a:xfrm>
            <a:off x="685800" y="3657600"/>
            <a:ext cx="10972800" cy="1828800"/>
          </a:xfrm>
          <a:prstGeom prst="rect">
            <a:avLst/>
          </a:prstGeom>
          <a:noFill/>
        </p:spPr>
        <p:txBody>
          <a:bodyPr wrap="square" lIns="0" rIns="0" tIns="0" bIns="0">
            <a:spAutoFit/>
          </a:bodyPr>
          <a:lstStyle/>
          <a:p>
            <a:pPr algn="l">
              <a:lnSpc>
                <a:spcPct val="130000"/>
              </a:lnSpc>
            </a:pPr>
            <a:r>
              <a:rPr sz="2600" b="0">
                <a:solidFill>
                  <a:srgbClr val="FAFAFA"/>
                </a:solidFill>
                <a:latin typeface="Inter"/>
              </a:rPr>
              <a:t>A 4-week cohort that helps you stop reading about AI</a:t>
            </a:r>
          </a:p>
          <a:p>
            <a:pPr algn="l">
              <a:lnSpc>
                <a:spcPct val="130000"/>
              </a:lnSpc>
            </a:pPr>
            <a:r>
              <a:rPr sz="2600" b="0">
                <a:solidFill>
                  <a:srgbClr val="FAFAFA"/>
                </a:solidFill>
                <a:latin typeface="Inter"/>
              </a:rPr>
              <a:t>and ship one working product your team actually uses.</a:t>
            </a:r>
          </a:p>
        </p:txBody>
      </p:sp>
      <p:sp>
        <p:nvSpPr>
          <p:cNvPr id="5" name="TextBox 4"/>
          <p:cNvSpPr txBox="1"/>
          <p:nvPr/>
        </p:nvSpPr>
        <p:spPr>
          <a:xfrm>
            <a:off x="685800" y="6126480"/>
            <a:ext cx="10972800" cy="365760"/>
          </a:xfrm>
          <a:prstGeom prst="rect">
            <a:avLst/>
          </a:prstGeom>
          <a:noFill/>
        </p:spPr>
        <p:txBody>
          <a:bodyPr wrap="square" lIns="0" rIns="0" tIns="0" bIns="0">
            <a:spAutoFit/>
          </a:bodyPr>
          <a:lstStyle/>
          <a:p>
            <a:pPr algn="l">
              <a:lnSpc>
                <a:spcPct val="110000"/>
              </a:lnSpc>
            </a:pPr>
            <a:r>
              <a:rPr sz="1400" b="0">
                <a:solidFill>
                  <a:srgbClr val="8A8A8A"/>
                </a:solidFill>
                <a:latin typeface="Inter"/>
              </a:rPr>
              <a:t>4 weeks  ·  Live Sundays  ·  Starts 12 July  ·  $450 early bird  ·  Cap 60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685800" y="457200"/>
            <a:ext cx="10972800" cy="365760"/>
          </a:xfrm>
          <a:prstGeom prst="rect">
            <a:avLst/>
          </a:prstGeom>
          <a:noFill/>
        </p:spPr>
        <p:txBody>
          <a:bodyPr wrap="square" lIns="0" rIns="0" tIns="0" bIns="0">
            <a:spAutoFit/>
          </a:bodyPr>
          <a:lstStyle/>
          <a:p>
            <a:pPr algn="l">
              <a:lnSpc>
                <a:spcPct val="110000"/>
              </a:lnSpc>
            </a:pPr>
            <a:r>
              <a:rPr sz="1400" b="0">
                <a:solidFill>
                  <a:srgbClr val="8A8A8A"/>
                </a:solidFill>
                <a:latin typeface="Inter"/>
              </a:rPr>
              <a:t>The gap between reading about AI and shipping with it is these four weeks.</a:t>
            </a:r>
          </a:p>
        </p:txBody>
      </p:sp>
      <p:sp>
        <p:nvSpPr>
          <p:cNvPr id="3" name="TextBox 2"/>
          <p:cNvSpPr txBox="1"/>
          <p:nvPr/>
        </p:nvSpPr>
        <p:spPr>
          <a:xfrm>
            <a:off x="685800" y="868680"/>
            <a:ext cx="10972800" cy="822960"/>
          </a:xfrm>
          <a:prstGeom prst="rect">
            <a:avLst/>
          </a:prstGeom>
          <a:noFill/>
        </p:spPr>
        <p:txBody>
          <a:bodyPr wrap="square" lIns="0" rIns="0" tIns="0" bIns="0">
            <a:spAutoFit/>
          </a:bodyPr>
          <a:lstStyle/>
          <a:p>
            <a:pPr algn="l">
              <a:lnSpc>
                <a:spcPct val="110000"/>
              </a:lnSpc>
            </a:pPr>
            <a:r>
              <a:rPr sz="4000" b="1">
                <a:solidFill>
                  <a:srgbClr val="FAFAFA"/>
                </a:solidFill>
                <a:latin typeface="Inter"/>
              </a:rPr>
              <a:t>WHAT MAKES YOU AI-NATIVE</a:t>
            </a:r>
          </a:p>
        </p:txBody>
      </p:sp>
      <p:sp>
        <p:nvSpPr>
          <p:cNvPr id="4" name="TextBox 3"/>
          <p:cNvSpPr txBox="1"/>
          <p:nvPr/>
        </p:nvSpPr>
        <p:spPr>
          <a:xfrm>
            <a:off x="685800" y="1965960"/>
            <a:ext cx="2697480" cy="320040"/>
          </a:xfrm>
          <a:prstGeom prst="rect">
            <a:avLst/>
          </a:prstGeom>
          <a:noFill/>
        </p:spPr>
        <p:txBody>
          <a:bodyPr wrap="square" lIns="0" rIns="0" tIns="0" bIns="0">
            <a:spAutoFit/>
          </a:bodyPr>
          <a:lstStyle/>
          <a:p>
            <a:pPr algn="l">
              <a:lnSpc>
                <a:spcPct val="110000"/>
              </a:lnSpc>
            </a:pPr>
            <a:r>
              <a:rPr sz="1300" b="1">
                <a:solidFill>
                  <a:srgbClr val="FFD166"/>
                </a:solidFill>
                <a:latin typeface="Inter"/>
              </a:rPr>
              <a:t>WEEK 1</a:t>
            </a:r>
          </a:p>
        </p:txBody>
      </p:sp>
      <p:sp>
        <p:nvSpPr>
          <p:cNvPr id="5" name="TextBox 4"/>
          <p:cNvSpPr txBox="1"/>
          <p:nvPr/>
        </p:nvSpPr>
        <p:spPr>
          <a:xfrm>
            <a:off x="685800" y="2331720"/>
            <a:ext cx="2697480" cy="822960"/>
          </a:xfrm>
          <a:prstGeom prst="rect">
            <a:avLst/>
          </a:prstGeom>
          <a:noFill/>
        </p:spPr>
        <p:txBody>
          <a:bodyPr wrap="square" lIns="0" rIns="0" tIns="0" bIns="0">
            <a:spAutoFit/>
          </a:bodyPr>
          <a:lstStyle/>
          <a:p>
            <a:pPr algn="l">
              <a:lnSpc>
                <a:spcPct val="115000"/>
              </a:lnSpc>
            </a:pPr>
            <a:r>
              <a:rPr sz="1800" b="1">
                <a:solidFill>
                  <a:srgbClr val="FAFAFA"/>
                </a:solidFill>
                <a:latin typeface="Inter"/>
              </a:rPr>
              <a:t>Claude Code as your build partner</a:t>
            </a:r>
          </a:p>
        </p:txBody>
      </p:sp>
      <p:sp>
        <p:nvSpPr>
          <p:cNvPr id="6" name="Rectangle 5"/>
          <p:cNvSpPr/>
          <p:nvPr/>
        </p:nvSpPr>
        <p:spPr>
          <a:xfrm>
            <a:off x="685800" y="3383280"/>
            <a:ext cx="2697480" cy="9525"/>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3520440"/>
            <a:ext cx="2697480" cy="274320"/>
          </a:xfrm>
          <a:prstGeom prst="rect">
            <a:avLst/>
          </a:prstGeom>
          <a:noFill/>
        </p:spPr>
        <p:txBody>
          <a:bodyPr wrap="square" lIns="0" rIns="0" tIns="0" bIns="0">
            <a:spAutoFit/>
          </a:bodyPr>
          <a:lstStyle/>
          <a:p>
            <a:pPr algn="l">
              <a:lnSpc>
                <a:spcPct val="110000"/>
              </a:lnSpc>
            </a:pPr>
            <a:r>
              <a:rPr sz="1000" b="1">
                <a:solidFill>
                  <a:srgbClr val="8A8A8A"/>
                </a:solidFill>
                <a:latin typeface="Inter"/>
              </a:rPr>
              <a:t>SKILLS</a:t>
            </a:r>
          </a:p>
        </p:txBody>
      </p:sp>
      <p:sp>
        <p:nvSpPr>
          <p:cNvPr id="8" name="TextBox 7"/>
          <p:cNvSpPr txBox="1"/>
          <p:nvPr/>
        </p:nvSpPr>
        <p:spPr>
          <a:xfrm>
            <a:off x="685800" y="3840479"/>
            <a:ext cx="2697480" cy="2286000"/>
          </a:xfrm>
          <a:prstGeom prst="rect">
            <a:avLst/>
          </a:prstGeom>
          <a:noFill/>
        </p:spPr>
        <p:txBody>
          <a:bodyPr wrap="square" lIns="0" rIns="0" tIns="0" bIns="0">
            <a:spAutoFit/>
          </a:bodyPr>
          <a:lstStyle/>
          <a:p>
            <a:pPr algn="l">
              <a:lnSpc>
                <a:spcPct val="140000"/>
              </a:lnSpc>
            </a:pPr>
            <a:r>
              <a:rPr sz="1200" b="0">
                <a:solidFill>
                  <a:srgbClr val="FAFAFA"/>
                </a:solidFill>
                <a:latin typeface="Inter"/>
              </a:rPr>
              <a:t>CLAUDE.md system</a:t>
            </a:r>
          </a:p>
          <a:p>
            <a:pPr algn="l">
              <a:lnSpc>
                <a:spcPct val="140000"/>
              </a:lnSpc>
            </a:pPr>
            <a:r>
              <a:rPr sz="1200" b="0">
                <a:solidFill>
                  <a:srgbClr val="FAFAFA"/>
                </a:solidFill>
                <a:latin typeface="Inter"/>
              </a:rPr>
              <a:t>5-step build loop</a:t>
            </a:r>
          </a:p>
          <a:p>
            <a:pPr algn="l">
              <a:lnSpc>
                <a:spcPct val="140000"/>
              </a:lnSpc>
            </a:pPr>
            <a:r>
              <a:rPr sz="1200" b="0">
                <a:solidFill>
                  <a:srgbClr val="FAFAFA"/>
                </a:solidFill>
                <a:latin typeface="Inter"/>
              </a:rPr>
              <a:t>Agent loop mental model</a:t>
            </a:r>
          </a:p>
          <a:p>
            <a:pPr algn="l">
              <a:lnSpc>
                <a:spcPct val="140000"/>
              </a:lnSpc>
            </a:pPr>
            <a:r>
              <a:rPr sz="1200" b="0">
                <a:solidFill>
                  <a:srgbClr val="FAFAFA"/>
                </a:solidFill>
                <a:latin typeface="Inter"/>
              </a:rPr>
              <a:t>Model selection (Opus / Sonnet / Haiku)</a:t>
            </a:r>
          </a:p>
          <a:p>
            <a:pPr algn="l">
              <a:lnSpc>
                <a:spcPct val="140000"/>
              </a:lnSpc>
            </a:pPr>
            <a:r>
              <a:rPr sz="1200" b="0">
                <a:solidFill>
                  <a:srgbClr val="FAFAFA"/>
                </a:solidFill>
                <a:latin typeface="Inter"/>
              </a:rPr>
              <a:t>Sub-agents via Task tool</a:t>
            </a:r>
          </a:p>
          <a:p>
            <a:pPr algn="l">
              <a:lnSpc>
                <a:spcPct val="140000"/>
              </a:lnSpc>
            </a:pPr>
            <a:r>
              <a:rPr sz="1200" b="0">
                <a:solidFill>
                  <a:srgbClr val="FAFAFA"/>
                </a:solidFill>
                <a:latin typeface="Inter"/>
              </a:rPr>
              <a:t>Slash commands</a:t>
            </a:r>
          </a:p>
        </p:txBody>
      </p:sp>
      <p:sp>
        <p:nvSpPr>
          <p:cNvPr id="9" name="TextBox 8"/>
          <p:cNvSpPr txBox="1"/>
          <p:nvPr/>
        </p:nvSpPr>
        <p:spPr>
          <a:xfrm>
            <a:off x="685800" y="5760720"/>
            <a:ext cx="2697480" cy="274320"/>
          </a:xfrm>
          <a:prstGeom prst="rect">
            <a:avLst/>
          </a:prstGeom>
          <a:noFill/>
        </p:spPr>
        <p:txBody>
          <a:bodyPr wrap="square" lIns="0" rIns="0" tIns="0" bIns="0">
            <a:spAutoFit/>
          </a:bodyPr>
          <a:lstStyle/>
          <a:p>
            <a:pPr algn="l">
              <a:lnSpc>
                <a:spcPct val="110000"/>
              </a:lnSpc>
            </a:pPr>
            <a:r>
              <a:rPr sz="1000" b="1">
                <a:solidFill>
                  <a:srgbClr val="FFD166"/>
                </a:solidFill>
                <a:latin typeface="Inter"/>
              </a:rPr>
              <a:t>UNLOCKS</a:t>
            </a:r>
          </a:p>
        </p:txBody>
      </p:sp>
      <p:sp>
        <p:nvSpPr>
          <p:cNvPr id="10" name="TextBox 9"/>
          <p:cNvSpPr txBox="1"/>
          <p:nvPr/>
        </p:nvSpPr>
        <p:spPr>
          <a:xfrm>
            <a:off x="685800" y="6035040"/>
            <a:ext cx="2697480" cy="914400"/>
          </a:xfrm>
          <a:prstGeom prst="rect">
            <a:avLst/>
          </a:prstGeom>
          <a:noFill/>
        </p:spPr>
        <p:txBody>
          <a:bodyPr wrap="square" lIns="0" rIns="0" tIns="0" bIns="0">
            <a:spAutoFit/>
          </a:bodyPr>
          <a:lstStyle/>
          <a:p>
            <a:pPr algn="l">
              <a:lnSpc>
                <a:spcPct val="130000"/>
              </a:lnSpc>
            </a:pPr>
            <a:r>
              <a:rPr sz="1200" b="1">
                <a:solidFill>
                  <a:srgbClr val="FAFAFA"/>
                </a:solidFill>
                <a:latin typeface="Inter"/>
              </a:rPr>
              <a:t>You stop chatting with Claude and start directing it.</a:t>
            </a:r>
          </a:p>
        </p:txBody>
      </p:sp>
      <p:sp>
        <p:nvSpPr>
          <p:cNvPr id="11" name="TextBox 10"/>
          <p:cNvSpPr txBox="1"/>
          <p:nvPr/>
        </p:nvSpPr>
        <p:spPr>
          <a:xfrm>
            <a:off x="3520440" y="1965960"/>
            <a:ext cx="2697480" cy="320040"/>
          </a:xfrm>
          <a:prstGeom prst="rect">
            <a:avLst/>
          </a:prstGeom>
          <a:noFill/>
        </p:spPr>
        <p:txBody>
          <a:bodyPr wrap="square" lIns="0" rIns="0" tIns="0" bIns="0">
            <a:spAutoFit/>
          </a:bodyPr>
          <a:lstStyle/>
          <a:p>
            <a:pPr algn="l">
              <a:lnSpc>
                <a:spcPct val="110000"/>
              </a:lnSpc>
            </a:pPr>
            <a:r>
              <a:rPr sz="1300" b="1">
                <a:solidFill>
                  <a:srgbClr val="FFD166"/>
                </a:solidFill>
                <a:latin typeface="Inter"/>
              </a:rPr>
              <a:t>WEEK 2</a:t>
            </a:r>
          </a:p>
        </p:txBody>
      </p:sp>
      <p:sp>
        <p:nvSpPr>
          <p:cNvPr id="12" name="TextBox 11"/>
          <p:cNvSpPr txBox="1"/>
          <p:nvPr/>
        </p:nvSpPr>
        <p:spPr>
          <a:xfrm>
            <a:off x="3520440" y="2331720"/>
            <a:ext cx="2697480" cy="822960"/>
          </a:xfrm>
          <a:prstGeom prst="rect">
            <a:avLst/>
          </a:prstGeom>
          <a:noFill/>
        </p:spPr>
        <p:txBody>
          <a:bodyPr wrap="square" lIns="0" rIns="0" tIns="0" bIns="0">
            <a:spAutoFit/>
          </a:bodyPr>
          <a:lstStyle/>
          <a:p>
            <a:pPr algn="l">
              <a:lnSpc>
                <a:spcPct val="115000"/>
              </a:lnSpc>
            </a:pPr>
            <a:r>
              <a:rPr sz="1800" b="1">
                <a:solidFill>
                  <a:srgbClr val="FAFAFA"/>
                </a:solidFill>
                <a:latin typeface="Inter"/>
              </a:rPr>
              <a:t>Connect Claude to the real world</a:t>
            </a:r>
          </a:p>
        </p:txBody>
      </p:sp>
      <p:sp>
        <p:nvSpPr>
          <p:cNvPr id="13" name="Rectangle 12"/>
          <p:cNvSpPr/>
          <p:nvPr/>
        </p:nvSpPr>
        <p:spPr>
          <a:xfrm>
            <a:off x="3520440" y="3383280"/>
            <a:ext cx="2697480" cy="9525"/>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3520440"/>
            <a:ext cx="2697480" cy="274320"/>
          </a:xfrm>
          <a:prstGeom prst="rect">
            <a:avLst/>
          </a:prstGeom>
          <a:noFill/>
        </p:spPr>
        <p:txBody>
          <a:bodyPr wrap="square" lIns="0" rIns="0" tIns="0" bIns="0">
            <a:spAutoFit/>
          </a:bodyPr>
          <a:lstStyle/>
          <a:p>
            <a:pPr algn="l">
              <a:lnSpc>
                <a:spcPct val="110000"/>
              </a:lnSpc>
            </a:pPr>
            <a:r>
              <a:rPr sz="1000" b="1">
                <a:solidFill>
                  <a:srgbClr val="8A8A8A"/>
                </a:solidFill>
                <a:latin typeface="Inter"/>
              </a:rPr>
              <a:t>SKILLS</a:t>
            </a:r>
          </a:p>
        </p:txBody>
      </p:sp>
      <p:sp>
        <p:nvSpPr>
          <p:cNvPr id="15" name="TextBox 14"/>
          <p:cNvSpPr txBox="1"/>
          <p:nvPr/>
        </p:nvSpPr>
        <p:spPr>
          <a:xfrm>
            <a:off x="3520440" y="3840479"/>
            <a:ext cx="2697480" cy="2286000"/>
          </a:xfrm>
          <a:prstGeom prst="rect">
            <a:avLst/>
          </a:prstGeom>
          <a:noFill/>
        </p:spPr>
        <p:txBody>
          <a:bodyPr wrap="square" lIns="0" rIns="0" tIns="0" bIns="0">
            <a:spAutoFit/>
          </a:bodyPr>
          <a:lstStyle/>
          <a:p>
            <a:pPr algn="l">
              <a:lnSpc>
                <a:spcPct val="140000"/>
              </a:lnSpc>
            </a:pPr>
            <a:r>
              <a:rPr sz="1200" b="0">
                <a:solidFill>
                  <a:srgbClr val="FAFAFA"/>
                </a:solidFill>
                <a:latin typeface="Inter"/>
              </a:rPr>
              <a:t>MCP</a:t>
            </a:r>
          </a:p>
          <a:p>
            <a:pPr algn="l">
              <a:lnSpc>
                <a:spcPct val="140000"/>
              </a:lnSpc>
            </a:pPr>
            <a:r>
              <a:rPr sz="1200" b="0">
                <a:solidFill>
                  <a:srgbClr val="FAFAFA"/>
                </a:solidFill>
                <a:latin typeface="Inter"/>
              </a:rPr>
              <a:t>Skills 2.0</a:t>
            </a:r>
          </a:p>
          <a:p>
            <a:pPr algn="l">
              <a:lnSpc>
                <a:spcPct val="140000"/>
              </a:lnSpc>
            </a:pPr>
            <a:r>
              <a:rPr sz="1200" b="0">
                <a:solidFill>
                  <a:srgbClr val="FAFAFA"/>
                </a:solidFill>
                <a:latin typeface="Inter"/>
              </a:rPr>
              <a:t>Multi-Agent Orchestration</a:t>
            </a:r>
          </a:p>
          <a:p>
            <a:pPr algn="l">
              <a:lnSpc>
                <a:spcPct val="140000"/>
              </a:lnSpc>
            </a:pPr>
            <a:r>
              <a:rPr sz="1200" b="0">
                <a:solidFill>
                  <a:srgbClr val="FAFAFA"/>
                </a:solidFill>
                <a:latin typeface="Inter"/>
              </a:rPr>
              <a:t>Cost engineering (90% cheaper)</a:t>
            </a:r>
          </a:p>
          <a:p>
            <a:pPr algn="l">
              <a:lnSpc>
                <a:spcPct val="140000"/>
              </a:lnSpc>
            </a:pPr>
            <a:r>
              <a:rPr sz="1200" b="0">
                <a:solidFill>
                  <a:srgbClr val="FAFAFA"/>
                </a:solidFill>
                <a:latin typeface="Inter"/>
              </a:rPr>
              <a:t>The 5 production failure modes</a:t>
            </a:r>
          </a:p>
          <a:p>
            <a:pPr algn="l">
              <a:lnSpc>
                <a:spcPct val="140000"/>
              </a:lnSpc>
            </a:pPr>
            <a:r>
              <a:rPr sz="1200" b="0">
                <a:solidFill>
                  <a:srgbClr val="FAFAFA"/>
                </a:solidFill>
                <a:latin typeface="Inter"/>
              </a:rPr>
              <a:t>Evals (LLM-as-judge)</a:t>
            </a:r>
          </a:p>
          <a:p>
            <a:pPr algn="l">
              <a:lnSpc>
                <a:spcPct val="140000"/>
              </a:lnSpc>
            </a:pPr>
            <a:r>
              <a:rPr sz="1200" b="0">
                <a:solidFill>
                  <a:srgbClr val="FAFAFA"/>
                </a:solidFill>
                <a:latin typeface="Inter"/>
              </a:rPr>
              <a:t>Auth + data isolation</a:t>
            </a:r>
          </a:p>
        </p:txBody>
      </p:sp>
      <p:sp>
        <p:nvSpPr>
          <p:cNvPr id="16" name="TextBox 15"/>
          <p:cNvSpPr txBox="1"/>
          <p:nvPr/>
        </p:nvSpPr>
        <p:spPr>
          <a:xfrm>
            <a:off x="3520440" y="5760720"/>
            <a:ext cx="2697480" cy="274320"/>
          </a:xfrm>
          <a:prstGeom prst="rect">
            <a:avLst/>
          </a:prstGeom>
          <a:noFill/>
        </p:spPr>
        <p:txBody>
          <a:bodyPr wrap="square" lIns="0" rIns="0" tIns="0" bIns="0">
            <a:spAutoFit/>
          </a:bodyPr>
          <a:lstStyle/>
          <a:p>
            <a:pPr algn="l">
              <a:lnSpc>
                <a:spcPct val="110000"/>
              </a:lnSpc>
            </a:pPr>
            <a:r>
              <a:rPr sz="1000" b="1">
                <a:solidFill>
                  <a:srgbClr val="FFD166"/>
                </a:solidFill>
                <a:latin typeface="Inter"/>
              </a:rPr>
              <a:t>UNLOCKS</a:t>
            </a:r>
          </a:p>
        </p:txBody>
      </p:sp>
      <p:sp>
        <p:nvSpPr>
          <p:cNvPr id="17" name="TextBox 16"/>
          <p:cNvSpPr txBox="1"/>
          <p:nvPr/>
        </p:nvSpPr>
        <p:spPr>
          <a:xfrm>
            <a:off x="3520440" y="6035040"/>
            <a:ext cx="2697480" cy="914400"/>
          </a:xfrm>
          <a:prstGeom prst="rect">
            <a:avLst/>
          </a:prstGeom>
          <a:noFill/>
        </p:spPr>
        <p:txBody>
          <a:bodyPr wrap="square" lIns="0" rIns="0" tIns="0" bIns="0">
            <a:spAutoFit/>
          </a:bodyPr>
          <a:lstStyle/>
          <a:p>
            <a:pPr algn="l">
              <a:lnSpc>
                <a:spcPct val="130000"/>
              </a:lnSpc>
            </a:pPr>
            <a:r>
              <a:rPr sz="1200" b="1">
                <a:solidFill>
                  <a:srgbClr val="FAFAFA"/>
                </a:solidFill>
                <a:latin typeface="Inter"/>
              </a:rPr>
              <a:t>Your Claude stops being a chatbot and starts being a team.</a:t>
            </a:r>
          </a:p>
        </p:txBody>
      </p:sp>
      <p:sp>
        <p:nvSpPr>
          <p:cNvPr id="18" name="TextBox 17"/>
          <p:cNvSpPr txBox="1"/>
          <p:nvPr/>
        </p:nvSpPr>
        <p:spPr>
          <a:xfrm>
            <a:off x="6355080" y="1965960"/>
            <a:ext cx="2697480" cy="320040"/>
          </a:xfrm>
          <a:prstGeom prst="rect">
            <a:avLst/>
          </a:prstGeom>
          <a:noFill/>
        </p:spPr>
        <p:txBody>
          <a:bodyPr wrap="square" lIns="0" rIns="0" tIns="0" bIns="0">
            <a:spAutoFit/>
          </a:bodyPr>
          <a:lstStyle/>
          <a:p>
            <a:pPr algn="l">
              <a:lnSpc>
                <a:spcPct val="110000"/>
              </a:lnSpc>
            </a:pPr>
            <a:r>
              <a:rPr sz="1300" b="1">
                <a:solidFill>
                  <a:srgbClr val="FFD166"/>
                </a:solidFill>
                <a:latin typeface="Inter"/>
              </a:rPr>
              <a:t>WEEK 3</a:t>
            </a:r>
          </a:p>
        </p:txBody>
      </p:sp>
      <p:sp>
        <p:nvSpPr>
          <p:cNvPr id="19" name="TextBox 18"/>
          <p:cNvSpPr txBox="1"/>
          <p:nvPr/>
        </p:nvSpPr>
        <p:spPr>
          <a:xfrm>
            <a:off x="6355080" y="2331720"/>
            <a:ext cx="2697480" cy="822960"/>
          </a:xfrm>
          <a:prstGeom prst="rect">
            <a:avLst/>
          </a:prstGeom>
          <a:noFill/>
        </p:spPr>
        <p:txBody>
          <a:bodyPr wrap="square" lIns="0" rIns="0" tIns="0" bIns="0">
            <a:spAutoFit/>
          </a:bodyPr>
          <a:lstStyle/>
          <a:p>
            <a:pPr algn="l">
              <a:lnSpc>
                <a:spcPct val="115000"/>
              </a:lnSpc>
            </a:pPr>
            <a:r>
              <a:rPr sz="1800" b="1">
                <a:solidFill>
                  <a:srgbClr val="FAFAFA"/>
                </a:solidFill>
                <a:latin typeface="Inter"/>
              </a:rPr>
              <a:t>Ship your own idea</a:t>
            </a:r>
          </a:p>
        </p:txBody>
      </p:sp>
      <p:sp>
        <p:nvSpPr>
          <p:cNvPr id="20" name="Rectangle 19"/>
          <p:cNvSpPr/>
          <p:nvPr/>
        </p:nvSpPr>
        <p:spPr>
          <a:xfrm>
            <a:off x="6355080" y="3383280"/>
            <a:ext cx="2697480" cy="9525"/>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3520440"/>
            <a:ext cx="2697480" cy="274320"/>
          </a:xfrm>
          <a:prstGeom prst="rect">
            <a:avLst/>
          </a:prstGeom>
          <a:noFill/>
        </p:spPr>
        <p:txBody>
          <a:bodyPr wrap="square" lIns="0" rIns="0" tIns="0" bIns="0">
            <a:spAutoFit/>
          </a:bodyPr>
          <a:lstStyle/>
          <a:p>
            <a:pPr algn="l">
              <a:lnSpc>
                <a:spcPct val="110000"/>
              </a:lnSpc>
            </a:pPr>
            <a:r>
              <a:rPr sz="1000" b="1">
                <a:solidFill>
                  <a:srgbClr val="8A8A8A"/>
                </a:solidFill>
                <a:latin typeface="Inter"/>
              </a:rPr>
              <a:t>SKILLS</a:t>
            </a:r>
          </a:p>
        </p:txBody>
      </p:sp>
      <p:sp>
        <p:nvSpPr>
          <p:cNvPr id="22" name="TextBox 21"/>
          <p:cNvSpPr txBox="1"/>
          <p:nvPr/>
        </p:nvSpPr>
        <p:spPr>
          <a:xfrm>
            <a:off x="6355080" y="3840479"/>
            <a:ext cx="2697480" cy="2286000"/>
          </a:xfrm>
          <a:prstGeom prst="rect">
            <a:avLst/>
          </a:prstGeom>
          <a:noFill/>
        </p:spPr>
        <p:txBody>
          <a:bodyPr wrap="square" lIns="0" rIns="0" tIns="0" bIns="0">
            <a:spAutoFit/>
          </a:bodyPr>
          <a:lstStyle/>
          <a:p>
            <a:pPr algn="l">
              <a:lnSpc>
                <a:spcPct val="140000"/>
              </a:lnSpc>
            </a:pPr>
            <a:r>
              <a:rPr sz="1200" b="0">
                <a:solidFill>
                  <a:srgbClr val="FAFAFA"/>
                </a:solidFill>
                <a:latin typeface="Inter"/>
              </a:rPr>
              <a:t>The scoping cut</a:t>
            </a:r>
          </a:p>
          <a:p>
            <a:pPr algn="l">
              <a:lnSpc>
                <a:spcPct val="140000"/>
              </a:lnSpc>
            </a:pPr>
            <a:r>
              <a:rPr sz="1200" b="0">
                <a:solidFill>
                  <a:srgbClr val="FAFAFA"/>
                </a:solidFill>
                <a:latin typeface="Inter"/>
              </a:rPr>
              <a:t>One-page spec</a:t>
            </a:r>
          </a:p>
          <a:p>
            <a:pPr algn="l">
              <a:lnSpc>
                <a:spcPct val="140000"/>
              </a:lnSpc>
            </a:pPr>
            <a:r>
              <a:rPr sz="1200" b="0">
                <a:solidFill>
                  <a:srgbClr val="FAFAFA"/>
                </a:solidFill>
                <a:latin typeface="Inter"/>
              </a:rPr>
              <a:t>6 product shapes</a:t>
            </a:r>
          </a:p>
          <a:p>
            <a:pPr algn="l">
              <a:lnSpc>
                <a:spcPct val="140000"/>
              </a:lnSpc>
            </a:pPr>
            <a:r>
              <a:rPr sz="1200" b="0">
                <a:solidFill>
                  <a:srgbClr val="FAFAFA"/>
                </a:solidFill>
                <a:latin typeface="Inter"/>
              </a:rPr>
              <a:t>4 agent architectures</a:t>
            </a:r>
          </a:p>
          <a:p>
            <a:pPr algn="l">
              <a:lnSpc>
                <a:spcPct val="140000"/>
              </a:lnSpc>
            </a:pPr>
            <a:r>
              <a:rPr sz="1200" b="0">
                <a:solidFill>
                  <a:srgbClr val="FAFAFA"/>
                </a:solidFill>
                <a:latin typeface="Inter"/>
              </a:rPr>
              <a:t>Deploy per shape</a:t>
            </a:r>
          </a:p>
        </p:txBody>
      </p:sp>
      <p:sp>
        <p:nvSpPr>
          <p:cNvPr id="23" name="TextBox 22"/>
          <p:cNvSpPr txBox="1"/>
          <p:nvPr/>
        </p:nvSpPr>
        <p:spPr>
          <a:xfrm>
            <a:off x="6355080" y="5760720"/>
            <a:ext cx="2697480" cy="274320"/>
          </a:xfrm>
          <a:prstGeom prst="rect">
            <a:avLst/>
          </a:prstGeom>
          <a:noFill/>
        </p:spPr>
        <p:txBody>
          <a:bodyPr wrap="square" lIns="0" rIns="0" tIns="0" bIns="0">
            <a:spAutoFit/>
          </a:bodyPr>
          <a:lstStyle/>
          <a:p>
            <a:pPr algn="l">
              <a:lnSpc>
                <a:spcPct val="110000"/>
              </a:lnSpc>
            </a:pPr>
            <a:r>
              <a:rPr sz="1000" b="1">
                <a:solidFill>
                  <a:srgbClr val="FFD166"/>
                </a:solidFill>
                <a:latin typeface="Inter"/>
              </a:rPr>
              <a:t>UNLOCKS</a:t>
            </a:r>
          </a:p>
        </p:txBody>
      </p:sp>
      <p:sp>
        <p:nvSpPr>
          <p:cNvPr id="24" name="TextBox 23"/>
          <p:cNvSpPr txBox="1"/>
          <p:nvPr/>
        </p:nvSpPr>
        <p:spPr>
          <a:xfrm>
            <a:off x="6355080" y="6035040"/>
            <a:ext cx="2697480" cy="914400"/>
          </a:xfrm>
          <a:prstGeom prst="rect">
            <a:avLst/>
          </a:prstGeom>
          <a:noFill/>
        </p:spPr>
        <p:txBody>
          <a:bodyPr wrap="square" lIns="0" rIns="0" tIns="0" bIns="0">
            <a:spAutoFit/>
          </a:bodyPr>
          <a:lstStyle/>
          <a:p>
            <a:pPr algn="l">
              <a:lnSpc>
                <a:spcPct val="130000"/>
              </a:lnSpc>
            </a:pPr>
            <a:r>
              <a:rPr sz="1200" b="1">
                <a:solidFill>
                  <a:srgbClr val="FAFAFA"/>
                </a:solidFill>
                <a:latin typeface="Inter"/>
              </a:rPr>
              <a:t>You take any idea and ship it in the right form in 7 days.</a:t>
            </a:r>
          </a:p>
        </p:txBody>
      </p:sp>
      <p:sp>
        <p:nvSpPr>
          <p:cNvPr id="25" name="TextBox 24"/>
          <p:cNvSpPr txBox="1"/>
          <p:nvPr/>
        </p:nvSpPr>
        <p:spPr>
          <a:xfrm>
            <a:off x="9189720" y="1965960"/>
            <a:ext cx="2697480" cy="320040"/>
          </a:xfrm>
          <a:prstGeom prst="rect">
            <a:avLst/>
          </a:prstGeom>
          <a:noFill/>
        </p:spPr>
        <p:txBody>
          <a:bodyPr wrap="square" lIns="0" rIns="0" tIns="0" bIns="0">
            <a:spAutoFit/>
          </a:bodyPr>
          <a:lstStyle/>
          <a:p>
            <a:pPr algn="l">
              <a:lnSpc>
                <a:spcPct val="110000"/>
              </a:lnSpc>
            </a:pPr>
            <a:r>
              <a:rPr sz="1300" b="1">
                <a:solidFill>
                  <a:srgbClr val="FFD166"/>
                </a:solidFill>
                <a:latin typeface="Inter"/>
              </a:rPr>
              <a:t>WEEK 4</a:t>
            </a:r>
          </a:p>
        </p:txBody>
      </p:sp>
      <p:sp>
        <p:nvSpPr>
          <p:cNvPr id="26" name="TextBox 25"/>
          <p:cNvSpPr txBox="1"/>
          <p:nvPr/>
        </p:nvSpPr>
        <p:spPr>
          <a:xfrm>
            <a:off x="9189720" y="2331720"/>
            <a:ext cx="2697480" cy="822960"/>
          </a:xfrm>
          <a:prstGeom prst="rect">
            <a:avLst/>
          </a:prstGeom>
          <a:noFill/>
        </p:spPr>
        <p:txBody>
          <a:bodyPr wrap="square" lIns="0" rIns="0" tIns="0" bIns="0">
            <a:spAutoFit/>
          </a:bodyPr>
          <a:lstStyle/>
          <a:p>
            <a:pPr algn="l">
              <a:lnSpc>
                <a:spcPct val="115000"/>
              </a:lnSpc>
            </a:pPr>
            <a:r>
              <a:rPr sz="1800" b="1">
                <a:solidFill>
                  <a:srgbClr val="FAFAFA"/>
                </a:solidFill>
                <a:latin typeface="Inter"/>
              </a:rPr>
              <a:t>Polish + Demo Day</a:t>
            </a:r>
          </a:p>
        </p:txBody>
      </p:sp>
      <p:sp>
        <p:nvSpPr>
          <p:cNvPr id="27" name="Rectangle 26"/>
          <p:cNvSpPr/>
          <p:nvPr/>
        </p:nvSpPr>
        <p:spPr>
          <a:xfrm>
            <a:off x="9189720" y="3383280"/>
            <a:ext cx="2697480" cy="9525"/>
          </a:xfrm>
          <a:prstGeom prst="rect">
            <a:avLst/>
          </a:prstGeom>
          <a:solidFill>
            <a:srgbClr val="2A2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89720" y="3520440"/>
            <a:ext cx="2697480" cy="274320"/>
          </a:xfrm>
          <a:prstGeom prst="rect">
            <a:avLst/>
          </a:prstGeom>
          <a:noFill/>
        </p:spPr>
        <p:txBody>
          <a:bodyPr wrap="square" lIns="0" rIns="0" tIns="0" bIns="0">
            <a:spAutoFit/>
          </a:bodyPr>
          <a:lstStyle/>
          <a:p>
            <a:pPr algn="l">
              <a:lnSpc>
                <a:spcPct val="110000"/>
              </a:lnSpc>
            </a:pPr>
            <a:r>
              <a:rPr sz="1000" b="1">
                <a:solidFill>
                  <a:srgbClr val="8A8A8A"/>
                </a:solidFill>
                <a:latin typeface="Inter"/>
              </a:rPr>
              <a:t>SKILLS</a:t>
            </a:r>
          </a:p>
        </p:txBody>
      </p:sp>
      <p:sp>
        <p:nvSpPr>
          <p:cNvPr id="29" name="TextBox 28"/>
          <p:cNvSpPr txBox="1"/>
          <p:nvPr/>
        </p:nvSpPr>
        <p:spPr>
          <a:xfrm>
            <a:off x="9189720" y="3840479"/>
            <a:ext cx="2697480" cy="2286000"/>
          </a:xfrm>
          <a:prstGeom prst="rect">
            <a:avLst/>
          </a:prstGeom>
          <a:noFill/>
        </p:spPr>
        <p:txBody>
          <a:bodyPr wrap="square" lIns="0" rIns="0" tIns="0" bIns="0">
            <a:spAutoFit/>
          </a:bodyPr>
          <a:lstStyle/>
          <a:p>
            <a:pPr algn="l">
              <a:lnSpc>
                <a:spcPct val="140000"/>
              </a:lnSpc>
            </a:pPr>
            <a:r>
              <a:rPr sz="1200" b="0">
                <a:solidFill>
                  <a:srgbClr val="FAFAFA"/>
                </a:solidFill>
                <a:latin typeface="Inter"/>
              </a:rPr>
              <a:t>The stranger test</a:t>
            </a:r>
          </a:p>
          <a:p>
            <a:pPr algn="l">
              <a:lnSpc>
                <a:spcPct val="140000"/>
              </a:lnSpc>
            </a:pPr>
            <a:r>
              <a:rPr sz="1200" b="0">
                <a:solidFill>
                  <a:srgbClr val="FAFAFA"/>
                </a:solidFill>
                <a:latin typeface="Inter"/>
              </a:rPr>
              <a:t>Golden set + LLM-as-judge</a:t>
            </a:r>
          </a:p>
          <a:p>
            <a:pPr algn="l">
              <a:lnSpc>
                <a:spcPct val="140000"/>
              </a:lnSpc>
            </a:pPr>
            <a:r>
              <a:rPr sz="1200" b="0">
                <a:solidFill>
                  <a:srgbClr val="FAFAFA"/>
                </a:solidFill>
                <a:latin typeface="Inter"/>
              </a:rPr>
              <a:t>5 edge cases every AI product faces</a:t>
            </a:r>
          </a:p>
          <a:p>
            <a:pPr algn="l">
              <a:lnSpc>
                <a:spcPct val="140000"/>
              </a:lnSpc>
            </a:pPr>
            <a:r>
              <a:rPr sz="1200" b="0">
                <a:solidFill>
                  <a:srgbClr val="FAFAFA"/>
                </a:solidFill>
                <a:latin typeface="Inter"/>
              </a:rPr>
              <a:t>10-min polish checklist</a:t>
            </a:r>
          </a:p>
          <a:p>
            <a:pPr algn="l">
              <a:lnSpc>
                <a:spcPct val="140000"/>
              </a:lnSpc>
            </a:pPr>
            <a:r>
              <a:rPr sz="1200" b="0">
                <a:solidFill>
                  <a:srgbClr val="FAFAFA"/>
                </a:solidFill>
                <a:latin typeface="Inter"/>
              </a:rPr>
              <a:t>Demo craft</a:t>
            </a:r>
          </a:p>
        </p:txBody>
      </p:sp>
      <p:sp>
        <p:nvSpPr>
          <p:cNvPr id="30" name="TextBox 29"/>
          <p:cNvSpPr txBox="1"/>
          <p:nvPr/>
        </p:nvSpPr>
        <p:spPr>
          <a:xfrm>
            <a:off x="9189720" y="5760720"/>
            <a:ext cx="2697480" cy="274320"/>
          </a:xfrm>
          <a:prstGeom prst="rect">
            <a:avLst/>
          </a:prstGeom>
          <a:noFill/>
        </p:spPr>
        <p:txBody>
          <a:bodyPr wrap="square" lIns="0" rIns="0" tIns="0" bIns="0">
            <a:spAutoFit/>
          </a:bodyPr>
          <a:lstStyle/>
          <a:p>
            <a:pPr algn="l">
              <a:lnSpc>
                <a:spcPct val="110000"/>
              </a:lnSpc>
            </a:pPr>
            <a:r>
              <a:rPr sz="1000" b="1">
                <a:solidFill>
                  <a:srgbClr val="FFD166"/>
                </a:solidFill>
                <a:latin typeface="Inter"/>
              </a:rPr>
              <a:t>UNLOCKS</a:t>
            </a:r>
          </a:p>
        </p:txBody>
      </p:sp>
      <p:sp>
        <p:nvSpPr>
          <p:cNvPr id="31" name="TextBox 30"/>
          <p:cNvSpPr txBox="1"/>
          <p:nvPr/>
        </p:nvSpPr>
        <p:spPr>
          <a:xfrm>
            <a:off x="9189720" y="6035040"/>
            <a:ext cx="2697480" cy="914400"/>
          </a:xfrm>
          <a:prstGeom prst="rect">
            <a:avLst/>
          </a:prstGeom>
          <a:noFill/>
        </p:spPr>
        <p:txBody>
          <a:bodyPr wrap="square" lIns="0" rIns="0" tIns="0" bIns="0">
            <a:spAutoFit/>
          </a:bodyPr>
          <a:lstStyle/>
          <a:p>
            <a:pPr algn="l">
              <a:lnSpc>
                <a:spcPct val="130000"/>
              </a:lnSpc>
            </a:pPr>
            <a:r>
              <a:rPr sz="1200" b="1">
                <a:solidFill>
                  <a:srgbClr val="FAFAFA"/>
                </a:solidFill>
                <a:latin typeface="Inter"/>
              </a:rPr>
              <a:t>You ship demo-day quality, not works-on-my-laptop quality.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685800" y="457200"/>
            <a:ext cx="10972800" cy="365760"/>
          </a:xfrm>
          <a:prstGeom prst="rect">
            <a:avLst/>
          </a:prstGeom>
          <a:noFill/>
        </p:spPr>
        <p:txBody>
          <a:bodyPr wrap="square" lIns="0" rIns="0" tIns="0" bIns="0">
            <a:spAutoFit/>
          </a:bodyPr>
          <a:lstStyle/>
          <a:p>
            <a:pPr algn="l">
              <a:lnSpc>
                <a:spcPct val="110000"/>
              </a:lnSpc>
            </a:pPr>
            <a:r>
              <a:rPr sz="1400" b="0">
                <a:solidFill>
                  <a:srgbClr val="8A8A8A"/>
                </a:solidFill>
                <a:latin typeface="Inter"/>
              </a:rPr>
              <a:t>There are many reasons. These four should convince you.</a:t>
            </a:r>
          </a:p>
        </p:txBody>
      </p:sp>
      <p:sp>
        <p:nvSpPr>
          <p:cNvPr id="3" name="TextBox 2"/>
          <p:cNvSpPr txBox="1"/>
          <p:nvPr/>
        </p:nvSpPr>
        <p:spPr>
          <a:xfrm>
            <a:off x="685800" y="868680"/>
            <a:ext cx="10972800" cy="822960"/>
          </a:xfrm>
          <a:prstGeom prst="rect">
            <a:avLst/>
          </a:prstGeom>
          <a:noFill/>
        </p:spPr>
        <p:txBody>
          <a:bodyPr wrap="square" lIns="0" rIns="0" tIns="0" bIns="0">
            <a:spAutoFit/>
          </a:bodyPr>
          <a:lstStyle/>
          <a:p>
            <a:pPr algn="l">
              <a:lnSpc>
                <a:spcPct val="110000"/>
              </a:lnSpc>
            </a:pPr>
            <a:r>
              <a:rPr sz="3600" b="1">
                <a:solidFill>
                  <a:srgbClr val="FAFAFA"/>
                </a:solidFill>
                <a:latin typeface="Inter"/>
              </a:rPr>
              <a:t>WHY SHOULD YOU TAKE THIS COURSE</a:t>
            </a:r>
          </a:p>
        </p:txBody>
      </p:sp>
      <p:sp>
        <p:nvSpPr>
          <p:cNvPr id="4" name="TextBox 3"/>
          <p:cNvSpPr txBox="1"/>
          <p:nvPr/>
        </p:nvSpPr>
        <p:spPr>
          <a:xfrm>
            <a:off x="685800" y="1920240"/>
            <a:ext cx="5486400" cy="274320"/>
          </a:xfrm>
          <a:prstGeom prst="rect">
            <a:avLst/>
          </a:prstGeom>
          <a:noFill/>
        </p:spPr>
        <p:txBody>
          <a:bodyPr wrap="square" lIns="0" rIns="0" tIns="0" bIns="0">
            <a:spAutoFit/>
          </a:bodyPr>
          <a:lstStyle/>
          <a:p>
            <a:pPr algn="l">
              <a:lnSpc>
                <a:spcPct val="110000"/>
              </a:lnSpc>
            </a:pPr>
            <a:r>
              <a:rPr sz="1100" b="1">
                <a:solidFill>
                  <a:srgbClr val="FFD166"/>
                </a:solidFill>
                <a:latin typeface="Inter"/>
              </a:rPr>
              <a:t>REASON 1</a:t>
            </a:r>
          </a:p>
        </p:txBody>
      </p:sp>
      <p:sp>
        <p:nvSpPr>
          <p:cNvPr id="5" name="TextBox 4"/>
          <p:cNvSpPr txBox="1"/>
          <p:nvPr/>
        </p:nvSpPr>
        <p:spPr>
          <a:xfrm>
            <a:off x="685800" y="2240280"/>
            <a:ext cx="5486400" cy="548640"/>
          </a:xfrm>
          <a:prstGeom prst="rect">
            <a:avLst/>
          </a:prstGeom>
          <a:noFill/>
        </p:spPr>
        <p:txBody>
          <a:bodyPr wrap="square" lIns="0" rIns="0" tIns="0" bIns="0">
            <a:spAutoFit/>
          </a:bodyPr>
          <a:lstStyle/>
          <a:p>
            <a:pPr algn="l">
              <a:lnSpc>
                <a:spcPct val="115000"/>
              </a:lnSpc>
            </a:pPr>
            <a:r>
              <a:rPr sz="2000" b="1">
                <a:solidFill>
                  <a:srgbClr val="FAFAFA"/>
                </a:solidFill>
                <a:latin typeface="Inter"/>
              </a:rPr>
              <a:t>Become a builder or fall behind</a:t>
            </a:r>
          </a:p>
        </p:txBody>
      </p:sp>
      <p:sp>
        <p:nvSpPr>
          <p:cNvPr id="6" name="TextBox 5"/>
          <p:cNvSpPr txBox="1"/>
          <p:nvPr/>
        </p:nvSpPr>
        <p:spPr>
          <a:xfrm>
            <a:off x="685800" y="2880360"/>
            <a:ext cx="5486400" cy="1280160"/>
          </a:xfrm>
          <a:prstGeom prst="rect">
            <a:avLst/>
          </a:prstGeom>
          <a:noFill/>
        </p:spPr>
        <p:txBody>
          <a:bodyPr wrap="square" lIns="0" rIns="0" tIns="0" bIns="0">
            <a:spAutoFit/>
          </a:bodyPr>
          <a:lstStyle/>
          <a:p>
            <a:pPr algn="l">
              <a:lnSpc>
                <a:spcPct val="135000"/>
              </a:lnSpc>
            </a:pPr>
            <a:r>
              <a:rPr sz="1200" b="0">
                <a:solidFill>
                  <a:srgbClr val="FAFAFA"/>
                </a:solidFill>
                <a:latin typeface="Inter"/>
              </a:rPr>
              <a:t>Every AI-native person you know can build. That's what AI-native means. You'll build for work (an inbox triager, a competitor tracker), for family (a picky-eater nutrition tracker, an interview coach for your job-hunting niece), for your company (an internal tool the AI team is still spec'ing). Every problem becomes buildable.</a:t>
            </a:r>
          </a:p>
        </p:txBody>
      </p:sp>
      <p:sp>
        <p:nvSpPr>
          <p:cNvPr id="7" name="TextBox 6"/>
          <p:cNvSpPr txBox="1"/>
          <p:nvPr/>
        </p:nvSpPr>
        <p:spPr>
          <a:xfrm>
            <a:off x="6309360" y="1920240"/>
            <a:ext cx="5486400" cy="274320"/>
          </a:xfrm>
          <a:prstGeom prst="rect">
            <a:avLst/>
          </a:prstGeom>
          <a:noFill/>
        </p:spPr>
        <p:txBody>
          <a:bodyPr wrap="square" lIns="0" rIns="0" tIns="0" bIns="0">
            <a:spAutoFit/>
          </a:bodyPr>
          <a:lstStyle/>
          <a:p>
            <a:pPr algn="l">
              <a:lnSpc>
                <a:spcPct val="110000"/>
              </a:lnSpc>
            </a:pPr>
            <a:r>
              <a:rPr sz="1100" b="1">
                <a:solidFill>
                  <a:srgbClr val="FFD166"/>
                </a:solidFill>
                <a:latin typeface="Inter"/>
              </a:rPr>
              <a:t>REASON 2</a:t>
            </a:r>
          </a:p>
        </p:txBody>
      </p:sp>
      <p:sp>
        <p:nvSpPr>
          <p:cNvPr id="8" name="TextBox 7"/>
          <p:cNvSpPr txBox="1"/>
          <p:nvPr/>
        </p:nvSpPr>
        <p:spPr>
          <a:xfrm>
            <a:off x="6309360" y="2240280"/>
            <a:ext cx="5486400" cy="548640"/>
          </a:xfrm>
          <a:prstGeom prst="rect">
            <a:avLst/>
          </a:prstGeom>
          <a:noFill/>
        </p:spPr>
        <p:txBody>
          <a:bodyPr wrap="square" lIns="0" rIns="0" tIns="0" bIns="0">
            <a:spAutoFit/>
          </a:bodyPr>
          <a:lstStyle/>
          <a:p>
            <a:pPr algn="l">
              <a:lnSpc>
                <a:spcPct val="115000"/>
              </a:lnSpc>
            </a:pPr>
            <a:r>
              <a:rPr sz="2000" b="1">
                <a:solidFill>
                  <a:srgbClr val="FAFAFA"/>
                </a:solidFill>
                <a:latin typeface="Inter"/>
              </a:rPr>
              <a:t>You leave with 3 shipped products, not a certificate</a:t>
            </a:r>
          </a:p>
        </p:txBody>
      </p:sp>
      <p:sp>
        <p:nvSpPr>
          <p:cNvPr id="9" name="TextBox 8"/>
          <p:cNvSpPr txBox="1"/>
          <p:nvPr/>
        </p:nvSpPr>
        <p:spPr>
          <a:xfrm>
            <a:off x="6309360" y="2880360"/>
            <a:ext cx="5486400" cy="1280160"/>
          </a:xfrm>
          <a:prstGeom prst="rect">
            <a:avLst/>
          </a:prstGeom>
          <a:noFill/>
        </p:spPr>
        <p:txBody>
          <a:bodyPr wrap="square" lIns="0" rIns="0" tIns="0" bIns="0">
            <a:spAutoFit/>
          </a:bodyPr>
          <a:lstStyle/>
          <a:p>
            <a:pPr algn="l">
              <a:lnSpc>
                <a:spcPct val="135000"/>
              </a:lnSpc>
            </a:pPr>
            <a:r>
              <a:rPr sz="1200" b="0">
                <a:solidFill>
                  <a:srgbClr val="FAFAFA"/>
                </a:solidFill>
                <a:latin typeface="Inter"/>
              </a:rPr>
              <a:t>Every other AI course hands you slides. This one hands you three live URLs. Second Brain. AI Interview Coach. Your own idea. Deployed. Real. Used by real people. Portfolio proof no reading-only course can give.</a:t>
            </a:r>
          </a:p>
        </p:txBody>
      </p:sp>
      <p:sp>
        <p:nvSpPr>
          <p:cNvPr id="10" name="TextBox 9"/>
          <p:cNvSpPr txBox="1"/>
          <p:nvPr/>
        </p:nvSpPr>
        <p:spPr>
          <a:xfrm>
            <a:off x="685800" y="4343400"/>
            <a:ext cx="5486400" cy="274320"/>
          </a:xfrm>
          <a:prstGeom prst="rect">
            <a:avLst/>
          </a:prstGeom>
          <a:noFill/>
        </p:spPr>
        <p:txBody>
          <a:bodyPr wrap="square" lIns="0" rIns="0" tIns="0" bIns="0">
            <a:spAutoFit/>
          </a:bodyPr>
          <a:lstStyle/>
          <a:p>
            <a:pPr algn="l">
              <a:lnSpc>
                <a:spcPct val="110000"/>
              </a:lnSpc>
            </a:pPr>
            <a:r>
              <a:rPr sz="1100" b="1">
                <a:solidFill>
                  <a:srgbClr val="FFD166"/>
                </a:solidFill>
                <a:latin typeface="Inter"/>
              </a:rPr>
              <a:t>REASON 3</a:t>
            </a:r>
          </a:p>
        </p:txBody>
      </p:sp>
      <p:sp>
        <p:nvSpPr>
          <p:cNvPr id="11" name="TextBox 10"/>
          <p:cNvSpPr txBox="1"/>
          <p:nvPr/>
        </p:nvSpPr>
        <p:spPr>
          <a:xfrm>
            <a:off x="685800" y="4663440"/>
            <a:ext cx="5486400" cy="548640"/>
          </a:xfrm>
          <a:prstGeom prst="rect">
            <a:avLst/>
          </a:prstGeom>
          <a:noFill/>
        </p:spPr>
        <p:txBody>
          <a:bodyPr wrap="square" lIns="0" rIns="0" tIns="0" bIns="0">
            <a:spAutoFit/>
          </a:bodyPr>
          <a:lstStyle/>
          <a:p>
            <a:pPr algn="l">
              <a:lnSpc>
                <a:spcPct val="115000"/>
              </a:lnSpc>
            </a:pPr>
            <a:r>
              <a:rPr sz="2000" b="1">
                <a:solidFill>
                  <a:srgbClr val="FAFAFA"/>
                </a:solidFill>
                <a:latin typeface="Inter"/>
              </a:rPr>
              <a:t>Taught by someone who ships, not someone who talks</a:t>
            </a:r>
          </a:p>
        </p:txBody>
      </p:sp>
      <p:sp>
        <p:nvSpPr>
          <p:cNvPr id="12" name="TextBox 11"/>
          <p:cNvSpPr txBox="1"/>
          <p:nvPr/>
        </p:nvSpPr>
        <p:spPr>
          <a:xfrm>
            <a:off x="685800" y="5303520"/>
            <a:ext cx="5486400" cy="1280160"/>
          </a:xfrm>
          <a:prstGeom prst="rect">
            <a:avLst/>
          </a:prstGeom>
          <a:noFill/>
        </p:spPr>
        <p:txBody>
          <a:bodyPr wrap="square" lIns="0" rIns="0" tIns="0" bIns="0">
            <a:spAutoFit/>
          </a:bodyPr>
          <a:lstStyle/>
          <a:p>
            <a:pPr algn="l">
              <a:lnSpc>
                <a:spcPct val="135000"/>
              </a:lnSpc>
            </a:pPr>
            <a:r>
              <a:rPr sz="1200" b="0">
                <a:solidFill>
                  <a:srgbClr val="FAFAFA"/>
                </a:solidFill>
                <a:latin typeface="Inter"/>
              </a:rPr>
              <a:t>Sid runs Product for Gen AI at Yelp. He built Jarvis — a multi-agent Chief of Staff — by directing Claude Code. Zero code. The patterns you'll learn are the ones he uses every day. Not theory. His playbook.</a:t>
            </a:r>
          </a:p>
        </p:txBody>
      </p:sp>
      <p:sp>
        <p:nvSpPr>
          <p:cNvPr id="13" name="TextBox 12"/>
          <p:cNvSpPr txBox="1"/>
          <p:nvPr/>
        </p:nvSpPr>
        <p:spPr>
          <a:xfrm>
            <a:off x="6309360" y="4343400"/>
            <a:ext cx="5486400" cy="274320"/>
          </a:xfrm>
          <a:prstGeom prst="rect">
            <a:avLst/>
          </a:prstGeom>
          <a:noFill/>
        </p:spPr>
        <p:txBody>
          <a:bodyPr wrap="square" lIns="0" rIns="0" tIns="0" bIns="0">
            <a:spAutoFit/>
          </a:bodyPr>
          <a:lstStyle/>
          <a:p>
            <a:pPr algn="l">
              <a:lnSpc>
                <a:spcPct val="110000"/>
              </a:lnSpc>
            </a:pPr>
            <a:r>
              <a:rPr sz="1100" b="1">
                <a:solidFill>
                  <a:srgbClr val="FFD166"/>
                </a:solidFill>
                <a:latin typeface="Inter"/>
              </a:rPr>
              <a:t>REASON 4</a:t>
            </a:r>
          </a:p>
        </p:txBody>
      </p:sp>
      <p:sp>
        <p:nvSpPr>
          <p:cNvPr id="14" name="TextBox 13"/>
          <p:cNvSpPr txBox="1"/>
          <p:nvPr/>
        </p:nvSpPr>
        <p:spPr>
          <a:xfrm>
            <a:off x="6309360" y="4663440"/>
            <a:ext cx="5486400" cy="548640"/>
          </a:xfrm>
          <a:prstGeom prst="rect">
            <a:avLst/>
          </a:prstGeom>
          <a:noFill/>
        </p:spPr>
        <p:txBody>
          <a:bodyPr wrap="square" lIns="0" rIns="0" tIns="0" bIns="0">
            <a:spAutoFit/>
          </a:bodyPr>
          <a:lstStyle/>
          <a:p>
            <a:pPr algn="l">
              <a:lnSpc>
                <a:spcPct val="115000"/>
              </a:lnSpc>
            </a:pPr>
            <a:r>
              <a:rPr sz="2000" b="1">
                <a:solidFill>
                  <a:srgbClr val="FAFAFA"/>
                </a:solidFill>
                <a:latin typeface="Inter"/>
              </a:rPr>
              <a:t>Small cohort. Direct access. No middlemen.</a:t>
            </a:r>
          </a:p>
        </p:txBody>
      </p:sp>
      <p:sp>
        <p:nvSpPr>
          <p:cNvPr id="15" name="TextBox 14"/>
          <p:cNvSpPr txBox="1"/>
          <p:nvPr/>
        </p:nvSpPr>
        <p:spPr>
          <a:xfrm>
            <a:off x="6309360" y="5303520"/>
            <a:ext cx="5486400" cy="1280160"/>
          </a:xfrm>
          <a:prstGeom prst="rect">
            <a:avLst/>
          </a:prstGeom>
          <a:noFill/>
        </p:spPr>
        <p:txBody>
          <a:bodyPr wrap="square" lIns="0" rIns="0" tIns="0" bIns="0">
            <a:spAutoFit/>
          </a:bodyPr>
          <a:lstStyle/>
          <a:p>
            <a:pPr algn="l">
              <a:lnSpc>
                <a:spcPct val="135000"/>
              </a:lnSpc>
            </a:pPr>
            <a:r>
              <a:rPr sz="1200" b="0">
                <a:solidFill>
                  <a:srgbClr val="FAFAFA"/>
                </a:solidFill>
                <a:latin typeface="Inter"/>
              </a:rPr>
              <a:t>60 seats. No TA layer. Sid personally reviews every product every week — he tries every Interview Coach students ship. Lifetime cohort Slack — sixty builders you ship alongside long after Week 4.</a:t>
            </a:r>
          </a:p>
        </p:txBody>
      </p:sp>
      <p:sp>
        <p:nvSpPr>
          <p:cNvPr id="16" name="TextBox 15"/>
          <p:cNvSpPr txBox="1"/>
          <p:nvPr/>
        </p:nvSpPr>
        <p:spPr>
          <a:xfrm>
            <a:off x="685800" y="6446520"/>
            <a:ext cx="10972800" cy="365760"/>
          </a:xfrm>
          <a:prstGeom prst="rect">
            <a:avLst/>
          </a:prstGeom>
          <a:noFill/>
        </p:spPr>
        <p:txBody>
          <a:bodyPr wrap="square" lIns="0" rIns="0" tIns="0" bIns="0">
            <a:spAutoFit/>
          </a:bodyPr>
          <a:lstStyle/>
          <a:p>
            <a:pPr algn="l">
              <a:lnSpc>
                <a:spcPct val="110000"/>
              </a:lnSpc>
            </a:pPr>
            <a:r>
              <a:rPr sz="1300" b="0">
                <a:solidFill>
                  <a:srgbClr val="8A8A8A"/>
                </a:solidFill>
                <a:latin typeface="Inter"/>
              </a:rPr>
              <a:t>4 weeks  ·  Live Sundays  ·  Starts 12 July  ·  $450 early bird  ·  Cap 60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